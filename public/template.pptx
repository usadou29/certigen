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1_Avenir_Regular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10693400" cy="7556500"/>
  <p:notesSz cx="7559675" cy="10691813"/>
  <p:embeddedFontLst>
    <p:embeddedFont>
      <p:font typeface="Avenir Bold"/>
    </p:embeddedFont>
    <p:embeddedFont>
      <p:font typeface="Avenir Ultra-Bold"/>
    </p:embeddedFont>
    <p:embeddedFont>
      <p:font typeface="Avenir"/>
      <p:regular r:id="rId4"/>
    </p:embeddedFont>
    <p:embeddedFont>
      <p:font typeface="Avenir Light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Avenir_Regular.fntdata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6B6360-DD15-433C-97F3-26D158D7F9E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F036C9-8C53-4A13-8D08-B0C56569FF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208849-EE03-429A-8535-E05DC318B1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818BA4-6BA2-4766-8D30-9A002F70A2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E579B9-2CC6-4F30-B7FB-5AEC513B01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CE674B-67A6-486A-B0A1-2DEB3D7D28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324B0E-36A5-436B-8AE7-01B121A0F1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85DD79-66F3-4409-80B7-10F26E0489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BB6F3D-9329-4517-837F-D40D368A70F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D3EC03-FD02-42A9-B252-C904FD2609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E7F519-A460-49F1-AB2D-92275FA8B2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3240" y="0"/>
            <a:ext cx="10685160" cy="7559640"/>
          </a:xfrm>
          <a:custGeom>
            <a:avLst/>
            <a:gdLst>
              <a:gd name="textAreaLeft" fmla="*/ 0 w 10685160"/>
              <a:gd name="textAreaRight" fmla="*/ 10685520 w 10685160"/>
              <a:gd name="textAreaTop" fmla="*/ 0 h 7559640"/>
              <a:gd name="textAreaBottom" fmla="*/ 7560000 h 7559640"/>
            </a:gdLst>
            <a:ahLst/>
            <a:cxnLst/>
            <a:rect l="textAreaLeft" t="textAreaTop" r="textAreaRight" b="textAreaBottom"/>
            <a:pathLst>
              <a:path w="10685512" h="7560000">
                <a:moveTo>
                  <a:pt x="0" y="0"/>
                </a:moveTo>
                <a:lnTo>
                  <a:pt x="10685512" y="0"/>
                </a:lnTo>
                <a:lnTo>
                  <a:pt x="10685512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9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AutoShape 3"/>
          <p:cNvSpPr/>
          <p:nvPr/>
        </p:nvSpPr>
        <p:spPr>
          <a:xfrm>
            <a:off x="1203840" y="6447600"/>
            <a:ext cx="1886040" cy="360"/>
          </a:xfrm>
          <a:prstGeom prst="line">
            <a:avLst/>
          </a:prstGeom>
          <a:ln w="19050">
            <a:solidFill>
              <a:srgbClr val="92df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AutoShape 4"/>
          <p:cNvSpPr/>
          <p:nvPr/>
        </p:nvSpPr>
        <p:spPr>
          <a:xfrm>
            <a:off x="7668720" y="6437880"/>
            <a:ext cx="1886040" cy="360"/>
          </a:xfrm>
          <a:prstGeom prst="line">
            <a:avLst/>
          </a:prstGeom>
          <a:ln w="19050">
            <a:solidFill>
              <a:srgbClr val="92df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reeform 5"/>
          <p:cNvSpPr/>
          <p:nvPr/>
        </p:nvSpPr>
        <p:spPr>
          <a:xfrm>
            <a:off x="4458240" y="6024960"/>
            <a:ext cx="1856880" cy="991800"/>
          </a:xfrm>
          <a:custGeom>
            <a:avLst/>
            <a:gdLst>
              <a:gd name="textAreaLeft" fmla="*/ 0 w 1856880"/>
              <a:gd name="textAreaRight" fmla="*/ 1857240 w 1856880"/>
              <a:gd name="textAreaTop" fmla="*/ 0 h 991800"/>
              <a:gd name="textAreaBottom" fmla="*/ 992160 h 991800"/>
            </a:gdLst>
            <a:ahLst/>
            <a:cxnLst/>
            <a:rect l="textAreaLeft" t="textAreaTop" r="textAreaRight" b="textAreaBottom"/>
            <a:pathLst>
              <a:path w="1857169" h="992103">
                <a:moveTo>
                  <a:pt x="0" y="0"/>
                </a:moveTo>
                <a:lnTo>
                  <a:pt x="1857169" y="0"/>
                </a:lnTo>
                <a:lnTo>
                  <a:pt x="1857169" y="992103"/>
                </a:lnTo>
                <a:lnTo>
                  <a:pt x="0" y="9921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reeform 6"/>
          <p:cNvSpPr/>
          <p:nvPr/>
        </p:nvSpPr>
        <p:spPr>
          <a:xfrm>
            <a:off x="4531320" y="673920"/>
            <a:ext cx="1629000" cy="559080"/>
          </a:xfrm>
          <a:custGeom>
            <a:avLst/>
            <a:gdLst>
              <a:gd name="textAreaLeft" fmla="*/ 0 w 1629000"/>
              <a:gd name="textAreaRight" fmla="*/ 1629360 w 1629000"/>
              <a:gd name="textAreaTop" fmla="*/ 0 h 559080"/>
              <a:gd name="textAreaBottom" fmla="*/ 559440 h 559080"/>
            </a:gdLst>
            <a:ahLst/>
            <a:cxnLst/>
            <a:rect l="textAreaLeft" t="textAreaTop" r="textAreaRight" b="textAreaBottom"/>
            <a:pathLst>
              <a:path w="1629293" h="559321">
                <a:moveTo>
                  <a:pt x="0" y="0"/>
                </a:moveTo>
                <a:lnTo>
                  <a:pt x="1629294" y="0"/>
                </a:lnTo>
                <a:lnTo>
                  <a:pt x="1629294" y="559321"/>
                </a:lnTo>
                <a:lnTo>
                  <a:pt x="0" y="5593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7"/>
          <p:cNvSpPr/>
          <p:nvPr/>
        </p:nvSpPr>
        <p:spPr>
          <a:xfrm>
            <a:off x="2777400" y="2018160"/>
            <a:ext cx="5136840" cy="3903480"/>
          </a:xfrm>
          <a:custGeom>
            <a:avLst/>
            <a:gdLst>
              <a:gd name="textAreaLeft" fmla="*/ 0 w 5136840"/>
              <a:gd name="textAreaRight" fmla="*/ 5137200 w 5136840"/>
              <a:gd name="textAreaTop" fmla="*/ 0 h 3903480"/>
              <a:gd name="textAreaBottom" fmla="*/ 3903840 h 3903480"/>
            </a:gdLst>
            <a:ahLst/>
            <a:cxnLst/>
            <a:rect l="textAreaLeft" t="textAreaTop" r="textAreaRight" b="textAreaBottom"/>
            <a:pathLst>
              <a:path w="5137148" h="3903861">
                <a:moveTo>
                  <a:pt x="0" y="0"/>
                </a:moveTo>
                <a:lnTo>
                  <a:pt x="5137148" y="0"/>
                </a:lnTo>
                <a:lnTo>
                  <a:pt x="5137148" y="3903862"/>
                </a:lnTo>
                <a:lnTo>
                  <a:pt x="0" y="39038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alphaModFix amt="9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1179720" y="3296160"/>
            <a:ext cx="841320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59"/>
              </a:lnSpc>
            </a:pPr>
            <a:r>
              <a:rPr b="1" lang="en-US" sz="2400" strike="noStrike" u="none">
                <a:solidFill>
                  <a:srgbClr val="103f19"/>
                </a:solidFill>
                <a:effectLst/>
                <a:uFillTx/>
                <a:latin typeface="Avenir Bold"/>
                <a:ea typeface="Avenir Bold"/>
              </a:rPr>
              <a:t>a accompli la formation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venir Bold"/>
                <a:ea typeface="Avenir Bold"/>
              </a:rPr>
              <a:t> </a:t>
            </a:r>
            <a:r>
              <a:rPr b="1" lang="en-US" sz="2400" strike="noStrike" u="none">
                <a:solidFill>
                  <a:srgbClr val="92df36"/>
                </a:solidFill>
                <a:effectLst/>
                <a:uFillTx/>
                <a:latin typeface="Avenir Bold"/>
                <a:ea typeface="Avenir Bold"/>
              </a:rPr>
              <a:t>{formationName}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359"/>
              </a:lnSpc>
            </a:pPr>
            <a:r>
              <a:rPr b="1" lang="en-US" sz="2400" strike="noStrike" u="none">
                <a:solidFill>
                  <a:srgbClr val="103f19"/>
                </a:solidFill>
                <a:effectLst/>
                <a:uFillTx/>
                <a:latin typeface="Avenir Bold"/>
                <a:ea typeface="Avenir Bold"/>
              </a:rPr>
              <a:t>du {startDate} au {endDate} avec succès.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1179720" y="1319040"/>
            <a:ext cx="841320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040"/>
              </a:lnSpc>
            </a:pPr>
            <a:r>
              <a:rPr b="1" lang="en-US" sz="3600" strike="noStrike" u="none">
                <a:solidFill>
                  <a:srgbClr val="103f19"/>
                </a:solidFill>
                <a:effectLst/>
                <a:uFillTx/>
                <a:latin typeface="Avenir Ultra-Bold"/>
                <a:ea typeface="Avenir Ultra-Bold"/>
              </a:rPr>
              <a:t>CERTIFICAT DE FORMATION</a:t>
            </a:r>
            <a:endParaRPr b="0" lang="fr-F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1639440" y="6775560"/>
            <a:ext cx="10245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b2617"/>
                </a:solidFill>
                <a:effectLst/>
                <a:uFillTx/>
                <a:latin typeface="Avenir"/>
                <a:ea typeface="Avenir"/>
              </a:rPr>
              <a:t>Participant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7630200" y="6728760"/>
            <a:ext cx="208980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b2617"/>
                </a:solidFill>
                <a:effectLst/>
                <a:uFillTx/>
                <a:latin typeface="Avenir"/>
                <a:ea typeface="Avenir"/>
              </a:rPr>
              <a:t>Organisme de formation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530280" y="6557040"/>
            <a:ext cx="31464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68"/>
              </a:lnSpc>
            </a:pPr>
            <a:r>
              <a:rPr b="1" lang="en-US" sz="1400" spc="34" strike="noStrike" u="none">
                <a:solidFill>
                  <a:srgbClr val="0b2617"/>
                </a:solidFill>
                <a:effectLst/>
                <a:uFillTx/>
                <a:latin typeface="Avenir Bold"/>
                <a:ea typeface="Avenir Bold"/>
              </a:rPr>
              <a:t>{firstName} {lastName}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7287840" y="6543000"/>
            <a:ext cx="264780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68"/>
              </a:lnSpc>
            </a:pPr>
            <a:r>
              <a:rPr b="1" lang="en-US" sz="1400" spc="34" strike="noStrike" u="none">
                <a:solidFill>
                  <a:srgbClr val="0b2617"/>
                </a:solidFill>
                <a:effectLst/>
                <a:uFillTx/>
                <a:latin typeface="Avenir Bold"/>
                <a:ea typeface="Avenir Bold"/>
              </a:rPr>
              <a:t>AROLLA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4"/>
          <p:cNvSpPr/>
          <p:nvPr/>
        </p:nvSpPr>
        <p:spPr>
          <a:xfrm>
            <a:off x="7755840" y="6969240"/>
            <a:ext cx="182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39"/>
              </a:lnSpc>
            </a:pPr>
            <a:r>
              <a:rPr b="0" lang="en-US" sz="1100" strike="noStrike" u="none">
                <a:solidFill>
                  <a:srgbClr val="0b2617"/>
                </a:solidFill>
                <a:effectLst/>
                <a:uFillTx/>
                <a:latin typeface="Avenir"/>
                <a:ea typeface="Avenir"/>
              </a:rPr>
              <a:t>Le {dayOfDate}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5"/>
          <p:cNvSpPr/>
          <p:nvPr/>
        </p:nvSpPr>
        <p:spPr>
          <a:xfrm>
            <a:off x="4287240" y="2118240"/>
            <a:ext cx="219816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520"/>
              </a:lnSpc>
            </a:pPr>
            <a:r>
              <a:rPr b="0" lang="en-US" sz="1800" strike="noStrike" u="none">
                <a:solidFill>
                  <a:srgbClr val="103f19"/>
                </a:solidFill>
                <a:effectLst/>
                <a:uFillTx/>
                <a:latin typeface="Avenir Light"/>
                <a:ea typeface="Avenir Light"/>
              </a:rPr>
              <a:t> AROLLA atteste que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6"/>
          <p:cNvSpPr/>
          <p:nvPr/>
        </p:nvSpPr>
        <p:spPr>
          <a:xfrm>
            <a:off x="2520000" y="2475000"/>
            <a:ext cx="55800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040"/>
              </a:lnSpc>
            </a:pPr>
            <a:r>
              <a:rPr b="0" lang="en-US" sz="3600" strike="noStrike" u="none">
                <a:solidFill>
                  <a:srgbClr val="103f19"/>
                </a:solidFill>
                <a:effectLst/>
                <a:uFillTx/>
                <a:latin typeface="Avenir"/>
                <a:ea typeface="Avenir"/>
              </a:rPr>
              <a:t>{firstName} {lastName}</a:t>
            </a:r>
            <a:endParaRPr b="0" lang="fr-F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LibreOffice/25.8.2.2$Windows_X86_64 LibreOffice_project/d401f2107ccab8f924a8e2df40f573aab7605b6f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DAF2wcliDDs</dc:identifier>
  <dc:language>fr-FR</dc:language>
  <cp:lastModifiedBy/>
  <dcterms:modified xsi:type="dcterms:W3CDTF">2025-11-18T12:24:30Z</dcterms:modified>
  <cp:revision>4</cp:revision>
  <dc:subject/>
  <dc:title>Certificat_formation_A UTILISER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